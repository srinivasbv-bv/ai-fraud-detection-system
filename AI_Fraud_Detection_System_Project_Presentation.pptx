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M.Sc. COMPUTER SCIENCE — FINAL PROJECT REVIEW &amp; VIVA DEFENSE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AI-Powered Real-Time Fraud Detection System</a:t>
            </a:r>
            <a:br/>
            <a:r>
              <a:t>for Indian Banking Transactions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 Hybrid Multi-Tier Framework Combining Gradient Boosting, Bi-directional LSTM &amp; Heuristics with Sub-25ms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10058400" cy="2103120"/>
          </a:xfrm>
          <a:prstGeom prst="roundRect">
            <a:avLst/>
          </a:prstGeom>
          <a:solidFill>
            <a:srgbClr val="131F3B"/>
          </a:solidFill>
          <a:ln w="12700">
            <a:solidFill>
              <a:srgbClr val="20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509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METADATA &amp; INSTITUTIONAL AFFILIATION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Candidate: [CANDIDATE NAME]   |   Register Number: [REGISTER NUMBER]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Project Guide: Smt. Suneetha, Associate Professor, Department of Studies in Computer Science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Institution: Karnataka State Open University (KSOU), Mukthagangothri, Mysuru - 570006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  <a:latin typeface="Segoe UI"/>
              </a:defRPr>
            </a:pPr>
            <a:r>
              <a:t>• Deployment: Live at https://ai-fraud-detection-system-five.vercel.app  | 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Executive Summary &amp; Core Project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Segoe UI"/>
              </a:defRPr>
            </a:pPr>
            <a:r>
              <a:t>13.0+ Billion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Monthly UPI Transactions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Explosive growth in Indian digital payments requires sub-second fraud protection across UPI, IMPS, RTGS, and RuPay.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28016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371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  <a:latin typeface="Segoe UI"/>
              </a:defRPr>
            </a:pPr>
            <a:r>
              <a:t>18 – 25 ms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Real-Time Inference Latency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Engineered to comfortably operate within the NPCI / RBI 50ms gateway switch SLA on commodity CPU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28016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371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Segoe UI"/>
              </a:defRPr>
            </a:pPr>
            <a:r>
              <a:t>0.978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ROC-AUC Benchmark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Hybrid ensemble outperforms standalone models (0.87–0.92) with 94.2% precision and 91.5% recall under extreme imbalance.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28016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371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7706"/>
                </a:solidFill>
                <a:latin typeface="Segoe UI"/>
              </a:defRPr>
            </a:pPr>
            <a:r>
              <a:t>3-Tier Policy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  <a:latin typeface="Segoe UI"/>
              </a:defRPr>
            </a:pPr>
            <a:r>
              <a:t>Adaptive Friction Decisioning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Replaces blunt allow/block with Auto-Approve (&lt;30), Step-Up OTP 2FA (30–70), and Outright Block (&gt;70).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1072591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3601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RESEARCH &amp; TECHNICAL VALUE PROPOSITION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Multi-Modal Ensemble Synergy: Unifies static feature tabular classification (LightGBM/GBDT), deep sequential context analysis (Bi-directional LSTM), and zero-latency heuristic business rules.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Indian Domestic Rail Grounding: Modeled in Indian Rupees (₹), addressing micro-ticket Kirana QR payments, large-ticket RTGS business transfers, and geographic travel velocity constraints between Indian cities.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Explainable AI (XAI) &amp; Human-in-the-Loop (HITL): Provides fraud analysts with transparent feature-attribution risk breakdowns and operational triage tools rather than an uninterpretable black-box.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Regulatory &amp; Framework Compliance: Directly grounded in RBI Digital Payment Security Guidelines (2021), OWASP API Security Top 10, and PCI-DSS v4.0 audit logging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Problem Statement &amp; Indian Financial Domain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LIMITATIONS OF LEGACY FRAUD SYSTEMS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Static Hardcoded Thresholds: Traditional systems flag transactions purely by static amounts (e.g. &gt; ₹50,000). Attackers easily bypass this through 'smurfing' or micro-probing (series of ₹2,000 payments).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Over 80% False Positive Ratio: Legitimate users making genuine festival purchases, travel bookings, or emergency hospital bills get falsely blocked, causing severe customer frustration and churn.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Absence of Temporal Awareness: Treating transactions as independent isolated events misses temporal account takeovers (e.g., password change followed immediately by 5 rapid transfers).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Maintenance &amp; Rule Explosion: Rule engines grow to thousands of conflicting if-else statements that degrade switch processing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395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THE MODERN INDIAN PAYMENT THREAT LANDSCAPE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UPI QR Code Phishing &amp; Reverse Requests: Fraudsters send collect requests masked as cashback receipts or spoof legitimate merchant soundboxes.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Automated Bot Velocity Bursts: Credential stuffing and card testing attacks executing 8–10 transactions within 60 seconds across online e-commerce checkouts.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Extreme Geo-Location Impossibility: Transactions occurring across geographically distant Indian cities (e.g., Bengaluru physical ATM followed 20 minutes later by a Delhi POS tap).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High-Risk Nighttime Account Takeovers (ATO): SIM swapping or malware-enabled credential theft occurring during odd hours (1 AM to 4 AM) accompanied by rapid balance liquidation.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Project Objectives &amp; Technical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53312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1. Multi-Tier Hybrid Modeling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Build an ensemble architecture harmonizing supervised tree-based classification (LightGBM/GBDT), deep sequence learning (Bi-directional LSTM), and heuristic business logic to capture both static and sequential fraud dynamics.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67712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2. Sub-25ms Real-Time Inference SLA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Optimize feature transformations, numeric standardizations, and model inference pipelines to evaluate transactions in &lt;25ms, complying with NPCI and RBI payment switch processing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55264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2841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3. Adaptive 3-Tier Risk Policy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Replace binary allow/block decisions with an adaptive risk-based friction model: Auto-Approve (score &lt;30), Step-Up OTP/Biometric 2FA (score 30–70), and Outright Block (score &gt;70).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42816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4. Explainable AI &amp; Human Triage Queue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Provide fraud analysts with localized feature importance breakdowns explaining *why* a transaction was flagged, coupled with a Level-2 triage investigation queue for dispute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5. Enterprise &amp; Regulatory Alignment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Ground system telemetry and auditing in RBI Digital Payment Security Guidelines (2021), OWASP API Security Top 10, and PCI-DSS v4.0 non-repudiation mandates.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Literature Survey &amp; Research Gaps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59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834640"/>
                <a:gridCol w="2770632"/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Approach / 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Advantages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Critical Deficiencies / Gaps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Our Proposed Solution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Rule-Based Systems (Heuristic IF-THEN)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Fast, zero latency, highly interpretable by non-technical staff.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High false positives (&gt;80%), brittle, fails on unseen patterns.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Retained as a 20% deterministic guardrail for extreme blacklists &amp; caps.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Classical Supervised ML (Logistic, Random Forest)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Learns non-linear boundaries, adapts to labeled fraud patterns.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Treats transactions as isolated points, ignores temporal velocity.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Gradient Boosted Trees (LightGBM) optimized with scale_pos_weight for static features.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Unsupervised Anomaly (Isolation Forest, Autoencoder)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Detects zero-day anomalies without needing historical labels.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High false alarm rate on genuine seasonal bursts or paydays.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Integrated into anomaly scoring to catch zero-day deviations.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Deep Sequence Models (Vanilla RNN, LSTM)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Captures sequential dependencies across historical transaction events.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High computational cost, slower inference latency if unoptimized.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Bi-directional LSTM with bounded sliding window (N=10) executing in &lt;10ms.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Our Proposed Hybrid Framework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Synergistic ensemble balancing precision, recall, and zero-day capture.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Requires careful calibration of component risk weights.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Dynamic re-weighting with 3-tier adaptive friction policy &amp; sub-25ms latency.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Proposed System Architecture &amp; 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pic>
        <p:nvPicPr>
          <p:cNvPr id="7" name="Picture 6" descr="fig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280160"/>
            <a:ext cx="395935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359359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THREE-TIER MODULAR PIPELINE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1. Ingestion Layer: Consumes live payment requests across UPI QR, IMPS, RTGS, and RuPay card checkouts formatted as JSON payloads.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2. Feature Vectorization: Transforms raw transaction inputs into a 23-dimensional static feature vector and a 7-dimensional temporal sequence tensor.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3. Model Inference Engine: Parallel evaluation across GBDT, Bi-directional LSTM, and Business Rule Overlay.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4. Decision Matrix: Outputs unified Risk Score [0–100] mapping to Auto-Approve, Step-Up 2FA, or Block.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5. Analyst &amp; Audit Loop: Stores forensic events in ELK/SIEM JSON format and provides interactive triage.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Mathematical Modeling &amp; Algorithmic Formulations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1. BI-DIRECTIONAL LSTM GATING EQUATIONS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• Forget Gate:  f_t = σ(W_f · [h_{t-1}, x_t] + b_f)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• Input Gate:   i_t = σ(W_i · [h_{t-1}, x_t] + b_i)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• Candidate:    C~_t = tanh(W_c · [h_{t-1}, x_t] + b_c)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• Cell State:   C_t = f_t * C_{t-1} + i_t * C~_t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• Output Gate:  o_t = σ(W_o · [h_{t-1}, x_t] + b_o)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• Hidden State: h_t = o_t * tanh(C_t)</a:t>
            </a:r>
          </a:p>
        </p:txBody>
      </p:sp>
      <p:pic>
        <p:nvPicPr>
          <p:cNvPr id="9" name="Picture 8" descr="fig6_lstm_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484632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280160"/>
            <a:ext cx="52395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2. HYBRID ENSEMBLE RISK SCORE FORMULA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Segoe UI"/>
              </a:defRPr>
            </a:pPr>
            <a:r>
              <a:t>• Ensemble Risk Formulation: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Risk Score = 100 × ( w₁·P_supervised + w₂·P_sequence + w₃·R_rules )</a:t>
            </a:r>
            <a:br/>
            <a:r>
              <a:t>where w₁=0.45, w₂=0.35, w₃=0.20 (Default Baseline).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Segoe UI"/>
              </a:defRPr>
            </a:pPr>
            <a:r>
              <a:t>• Dynamic Re-Weighting Policy: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If a high-severity business rule triggers (e.g. Blacklisted IP/Card or Velocity Burst &gt;5 txns in 5 mins with r_rules ≥ 0.8), weights dynamically adjust to:</a:t>
            </a:r>
            <a:br/>
            <a:r>
              <a:t>w₁=0.30, w₂=0.30, w₃=0.40 (ensuring rule dominance).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Segoe UI"/>
              </a:defRPr>
            </a:pPr>
            <a:r>
              <a:t>• Haversine Geographic Velocity Metric: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d = 2R · arcsin( sqrt( sin²(Δφ/2) + cos φ₁·cos φ₂·sin²(Δλ/2) ) )</a:t>
            </a:r>
            <a:br/>
            <a:r>
              <a:t>Velocity v = d / Δt. If v &gt; 800 km/h between successive transactions, a severe geographic anomaly flag triggers.</a:t>
            </a:r>
          </a:p>
          <a:p>
            <a:pPr>
              <a:spcBef>
                <a:spcPts val="600"/>
              </a:spcBef>
              <a:defRPr sz="950" b="1">
                <a:solidFill>
                  <a:srgbClr val="1E293B"/>
                </a:solidFill>
                <a:latin typeface="Segoe UI"/>
              </a:defRPr>
            </a:pPr>
            <a:r>
              <a:t>• Reconstruction Loss (Autoencoder):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MSE = (1/d) · Σ (x_j - x^_j)². High reconstruction error isolates zero-day transaction anomalies that deviate from typical user spending clusters.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Dataset Engineering &amp; Indian Banking Rails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INDIAN PAYMENT RAILS MODELED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Unified Payments Interface (UPI): P2P transfer, P2M QR-code payments, dynamic collect requests.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Immediate Payment Service (IMPS): 24x7 instant interbank transfers with account/IFSC verification.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RTGS &amp; NEFT: High-value corporate settlements (RTGS &gt; ₹2 Lakhs) and batch retail transfers.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RuPay &amp; Domestic Cards: E-commerce gateway checkouts, POS terminal dips, and contactless NFC taps.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SYNTHETIC DATA ENGINE &amp; STATISTICAL GROUNDING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DPDP Act 2023 Compliance: Synthetic generator used to comply with RBI/DPDP customer privacy mandates.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Benford's Law Validation: Natural currency amounts adhere to logarithmic first-digit distributions.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Indian Geographic Distance Matrix: Calibrated real latitude/longitude travel times between Indian cities.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Merchant Category Codes (MCC): Modeled local categories: upi_kirana_retail, irctc_railways, fuel_station, crypto_gaming.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Real-Time Transaction Lifecycle &amp; Sequence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pic>
        <p:nvPicPr>
          <p:cNvPr id="7" name="Picture 6" descr="fig2_transac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937760"/>
          </a:xfrm>
          <a:prstGeom prst="rect">
            <a:avLst/>
          </a:prstGeom>
        </p:spPr>
      </p:pic>
      <p:pic>
        <p:nvPicPr>
          <p:cNvPr id="8" name="Picture 7" descr="fig3_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05663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Adaptive Three-Tier Risk Decisioning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5643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3182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TIER 1: AUTO-APPROVE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Risk Score: 0 – 29.99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821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Frictionless instant transaction clearance.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Normal spending amount matching customer history.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Low device risk score (&lt;0.30) and known IP geolocation.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Inference and response emitted in &lt;18 milliseconds.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Represents ~92% of authentic daily consumer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80160"/>
            <a:ext cx="345643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25880"/>
            <a:ext cx="3182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TIER 2: STEP-UP 2FA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Risk Score: 30.00 – 69.99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31720"/>
            <a:ext cx="31821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Dynamic friction challenge rather than outright block.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Mandates instant OTP or mobile biometric fingerprint.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Prevents customer cart abandonment on edge cases.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Triggered by new merchant categories or moderate velocity.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Complies with RBI Adaptive Risk Authentication Guidelines.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280160"/>
            <a:ext cx="345643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325880"/>
            <a:ext cx="3182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TIER 3: OUTRIGHT BLOCK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Risk Score: 70.00 – 100.0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331720"/>
            <a:ext cx="31821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Immediate transaction rejection at payment gateway switch.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Escalated instantly to the Level-2 Analyst Review Queue.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Triggered by blacklists, velocity bursts, or extreme geo-jumps.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Generates immutable SIEM audit event with forensic metadata.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Stops balance liquidation and protects bank capital.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Software Architecture &amp; Enterprise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53312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BACKEND &amp; INFERENCE CORE  —  Python 3.11+, Flask / FastAPI Microframework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Lightweight, sub-millisecond serialization, native PyTorch/Scikit-learn integration, RESTful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67712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MACHINE LEARNING ENGINE  —  PyTorch, LightGBM, Scikit-learn, Joblib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Bi-directional LSTM sequence model, gradient boosted decision trees, minmax scalers, one-hot encoders.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55264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2841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PRESENTATION &amp; VISUALIZATION  —  HTML5, Tailwind CSS, Chart.js, Vanilla JS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Real-time responsive dashboard, dynamic risk gauges, asynchronous polling without framework bloat.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42816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LOGGING, SIEM &amp; AUDITING  —  Structured JSON Logger, ELK Stack Schema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Immutable non-repudiation logging of all risk scores, features, and analyst interventions for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CLOUD DEPLOYMENT &amp; HOSTING  —  Vercel Serverless Edge Platform, Git CI/CD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Global edge routing, automated continuous deployment, serverless scaling, production SSL/TLS encryption.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Empirical Experimental Results &amp; Performance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5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  <a:gridCol w="1280160"/>
                <a:gridCol w="1280160"/>
                <a:gridCol w="1280160"/>
                <a:gridCol w="1399032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/ System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Baseline Business Rules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Isolation Forest (Unsupervised)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0.712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0.747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0.825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0.730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8.2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Bi-directional LSTM (Sequence)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Supervised LightGBM / GBDT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0.889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5.4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Proposed Hybrid Ensemble (Our System)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0.942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0.915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0.928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0.951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18.6 ms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754880"/>
            <a:ext cx="1072591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KEY EMPIRICAL TAKEAWAYS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Superior Imbalance Handling: PR-AUC jumps from 0.540 (baseline) to 0.951 in our hybrid system, ensuring minimal false alarms under extreme 0.1% fraud prevalence.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Balanced Precision &amp; Recall: Reaches 94.2% precision (protecting legitimate customer payments) and 91.5% recall (intercepting actual financial losses).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Strict Real-Time Performance: Complete ensemble inference pipeline executes in 18.6 ms, well inside the NPCI 50ms switch constraint.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Visual Evaluation: ROC, Precision-Recall &amp;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pic>
        <p:nvPicPr>
          <p:cNvPr id="7" name="Picture 6" descr="fig8_pr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4937760"/>
          </a:xfrm>
          <a:prstGeom prst="rect">
            <a:avLst/>
          </a:prstGeom>
        </p:spPr>
      </p:pic>
      <p:pic>
        <p:nvPicPr>
          <p:cNvPr id="8" name="Picture 7" descr="fig9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3951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Risk Score Separation &amp; Telemetry Distribution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pic>
        <p:nvPicPr>
          <p:cNvPr id="7" name="Picture 6" descr="fig10_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943600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280160"/>
            <a:ext cx="450799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17320"/>
            <a:ext cx="4142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STATISTICAL SEPARATION ANALYSIS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Bimodal Distribution Separation: Legitimate transactions cluster sharply between 0 and 25, while fraudulent transactions cluster cleanly above 75. This wide margin of separation minimizes edge-case ambiguity.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Controlled Step-Up Zone (30–70): Only 4.8% of transactions fall into the intermediate Step-Up zone, ensuring that genuine customers are not inundated with unnecessary OTP challenges.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Rapid Convergence Under Adversarial Bursts: When an attacker initiates a burst of transactions within 60 seconds, the score escalates from Tier 1 to Tier 3 within 2 transactions, stopping catastrophic drains.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Audit Integrity: All scored events produce an immutable JSON telemetry record capturing model probabilities and triggered rule strings.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Live System Walkthrough &amp; Interactive User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53312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1. Central Operations Command Center (/)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Real-time incoming transaction stream with live KPI counters (Total Processed, Approval Rate, Step-Up 2FA Rate, Blocked Count, Avg Risk Score) and dynamic fraud category distribution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67712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2. Interactive Real-Time Transaction Simulator (/simulator)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Interactive testing sandbox allowing examiners to adjust INR amounts, merchant categories, device risks, velocities, and distance jumps, or trigger one-click attack simulations with live Explainable AI breakdowns.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55264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2841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3. Human-in-the-Loop Analyst Triage Queue (/queue)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Level-2 investigation queue for Step-Up (30–70) and Blocked (&gt;70) payments, providing digital forensic inspection, false positive release buttons, and confirmed fraud blacklist propagation.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42816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4. Model Performance Telemetry &amp; Curves (/metrics)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Interactive browser visualization of ROC-AUC curves, Precision-Recall curves, confusion matrices, and latency comparison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725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5. Regulatory Compliance &amp; Architecture Mapping (/framework)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Direct interactive mapping of detected attack vectors to RBI 2021 Security Guidelines, OWASP API Top 10, and PCI-DSS v4.0.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Regulatory Compliance &amp; Cybersecurity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5643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3182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RBI Digital Payment Security Guidelines (2021)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821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Section 5.1: Mandatory real-time transaction velocity checks.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Section 7.3: Adaptive risk-based multi-factor authentication (Step-Up 2FA).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Section 8.2: Automated blocking of anomalous foreign and out-of-pattern geolocations.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80160"/>
            <a:ext cx="345643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25880"/>
            <a:ext cx="3182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OWASP API Security Top 10 Defenses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31720"/>
            <a:ext cx="31821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API1: Broken Object Level Authorization (BOLA) mitigations.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API4: Unrestricted Resource Consumption / Automated Bot Burst rate limiting.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API8: Security Misconfiguration &amp; API parameter payload tamper prevention.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280160"/>
            <a:ext cx="34564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280160"/>
            <a:ext cx="345643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325880"/>
            <a:ext cx="3182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PCI-DSS v4.0 Governance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331720"/>
            <a:ext cx="31821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Requirement 10: Immutable audit logging of all transactional risk evaluations.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Requirement 11: Real-time anomaly detection across network endpoints.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Cardholder Data Security: Zero plaintext storage of CVV and full PAN.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Project Conclusion &amp; Future Research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RESEARCH SUMMARY &amp; ACHIEVEMENTS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Successful Multi-Tier Engineering: Proved that blending LightGBM tabular classification, Bi-directional LSTM sequence learning, and heuristic business logic outperforms single-model paradigms.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Rigorous Sub-25ms Real-Time Inference: Satisfied NPCI and RBI payment switch processing constraints without sacrificing predictive depth.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Drastic False Alarm Reduction: Reduced customer friction by replacing binary blocking with an adaptive 3-tier Step-Up OTP authentication policy.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Live Production Proof-of-Concept: Deployed and accessible on global edge serverless infrastructure with full audit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395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Segoe UI"/>
              </a:defRPr>
            </a:pPr>
            <a:r>
              <a:t>FUTURE RESEARCH EXTENSIONS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Graph Neural Networks (GNN): Model cross-account transaction graphs to discover coordinated mule account rings, layered money laundering networks, and syndicate hubs.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Cross-Bank Federated Learning: Enable competing financial institutions (SBI, HDFC, ICICI, etc.) to train collaborative fraud models without centralizing or sharing private customer financial data.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Reinforcement Learning from Human Feedback (RLHF): Dynamically tune ensemble weights and score thresholds based on daily analyst dispute resolutions and confirmed chargeback rates.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Edge TPU Hardware Acceleration: Deploy quantized INT8 models directly to POS terminals and payment switches for sub-5 millisecond response times.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M.SC. COMPUTER SCIENCE PROJECT REVIEW</a:t>
            </a:r>
          </a:p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Academic References &amp; Regulatory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Studies in Computer Science | Karnataka State Open University (KSOU), Mysuru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591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601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SELECT BIBLIOGRAPHY &amp; REGULATORY STANDARDS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[1] Reserve Bank of India (RBI), 'Master Direction on Digital Payment Security Controls', RBI/2020-21/74, Master Direction No. 04/2021, Feb 2021.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[2] National Payments Corporation of India (NPCI), 'UPI Procedural Guidelines and Operational Risk Framework', NPCI Circular 2023–24.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[3] Ke, G., Meng, Q., Finley, T., et al., 'LightGBM: A Highly Efficient Gradient Boosting Decision Tree', Advances in Neural Information Processing Systems (NeurIPS), 2017.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[4] Hochreiter, S., &amp; Schmidhuber, J., 'Long Short-Term Memory', Neural Computation, 9(8), pp. 1735–1780, 1997.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[5] Liu, F. T., Ting, K. M., &amp; Zhou, Z. H., 'Isolation Forest', IEEE International Conference on Data Mining (ICDM), pp. 413–422, 2008.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[6] Payment Card Industry Security Standards Council (PCI-SSC), 'Payment Card Industry Data Security Standard (PCI-DSS) v4.0', 2022.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[7] Open Web Application Security Project (OWASP), 'OWASP API Security Top 10 2023', OWASP Foundation.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[8] Ministry of Law and Justice, Government of India, 'The Digital Personal Data Protection Act, 2023 (Act No. 22 of 2023)', Aug 2023.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31F3B"/>
          </a:solidFill>
          <a:ln w="12700">
            <a:solidFill>
              <a:srgbClr val="20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971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06B6D4"/>
                </a:solidFill>
                <a:latin typeface="Segoe UI"/>
              </a:defRPr>
            </a:pPr>
            <a:r>
              <a:t>QUESTIONS &amp; ORAL DEFENSE</a:t>
            </a:r>
          </a:p>
          <a:p>
            <a:pPr algn="ctr">
              <a:spcBef>
                <a:spcPts val="1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AI-Powered Real-Time Fraud Detection System for Indian Banking Transactions</a:t>
            </a:r>
          </a:p>
          <a:p>
            <a:pPr algn="ctr"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Department of Studies in Computer Science</a:t>
            </a:r>
            <a:br/>
            <a:r>
              <a:t>Karnataka State Open University (KSOU), Mukthagangothri, Mysuru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Under the Guidance of: Smt. Suneetha, Associate Professor, DoS in Computer Science, KSOU</a:t>
            </a:r>
          </a:p>
          <a:p>
            <a:pPr algn="ctr">
              <a:spcBef>
                <a:spcPts val="1200"/>
              </a:spcBef>
              <a:defRPr sz="1000">
                <a:solidFill>
                  <a:srgbClr val="06B6D4"/>
                </a:solidFill>
                <a:latin typeface="Segoe UI"/>
              </a:defRPr>
            </a:pPr>
            <a:r>
              <a:t>Live Web Application: https://ai-fraud-detection-system-five.vercel.app</a:t>
            </a:r>
            <a:br/>
            <a:r>
              <a:t>Open-Source Codebase: https://github.com/srinivasbv-bv/ai-fraud-detection-system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